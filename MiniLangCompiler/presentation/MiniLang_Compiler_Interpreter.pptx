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3b426f478448aa" /><Relationship Type="http://schemas.openxmlformats.org/officeDocument/2006/relationships/extended-properties" Target="/docProps/app.xml" Id="Rd595826a7ecd4e53" /><Relationship Type="http://schemas.openxmlformats.org/officeDocument/2006/relationships/officeDocument" Target="/ppt/presentation.xml" Id="R6c2209ed131a49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e80b3d5469494a"/>
  </p:sldMasterIdLst>
  <p:notesMasterIdLst>
    <p:notesMasterId xmlns:r="http://schemas.openxmlformats.org/officeDocument/2006/relationships" r:id="Rf43ef2b7de7945b8"/>
  </p:notesMasterIdLst>
  <p:sldIdLst>
    <p:sldId xmlns:r="http://schemas.openxmlformats.org/officeDocument/2006/relationships" id="256" r:id="R4d6f52b56d024974"/>
    <p:sldId xmlns:r="http://schemas.openxmlformats.org/officeDocument/2006/relationships" id="257" r:id="R0de98c3890264cf9"/>
    <p:sldId xmlns:r="http://schemas.openxmlformats.org/officeDocument/2006/relationships" id="258" r:id="R182c4d5da3414819"/>
    <p:sldId xmlns:r="http://schemas.openxmlformats.org/officeDocument/2006/relationships" id="259" r:id="Rabae5688d68a4ae2"/>
    <p:sldId xmlns:r="http://schemas.openxmlformats.org/officeDocument/2006/relationships" id="260" r:id="R3d6b655d6d2b4925"/>
    <p:sldId xmlns:r="http://schemas.openxmlformats.org/officeDocument/2006/relationships" id="261" r:id="R87d846be82634586"/>
    <p:sldId xmlns:r="http://schemas.openxmlformats.org/officeDocument/2006/relationships" id="262" r:id="Re211996f8ad94d0e"/>
    <p:sldId xmlns:r="http://schemas.openxmlformats.org/officeDocument/2006/relationships" id="263" r:id="R9ef8b897e2ae4237"/>
    <p:sldId xmlns:r="http://schemas.openxmlformats.org/officeDocument/2006/relationships" id="264" r:id="R620d766bee6d4f5b"/>
    <p:sldId xmlns:r="http://schemas.openxmlformats.org/officeDocument/2006/relationships" id="265" r:id="Rd0ad4a1da5c74307"/>
    <p:sldId xmlns:r="http://schemas.openxmlformats.org/officeDocument/2006/relationships" id="266" r:id="R51c2fc41ddb44bf5"/>
    <p:sldId xmlns:r="http://schemas.openxmlformats.org/officeDocument/2006/relationships" id="267" r:id="Rb6a75e3f95f9441e"/>
    <p:sldId xmlns:r="http://schemas.openxmlformats.org/officeDocument/2006/relationships" id="268" r:id="R0c84acdadcdc41b7"/>
    <p:sldId xmlns:r="http://schemas.openxmlformats.org/officeDocument/2006/relationships" id="269" r:id="R84db0c90d9ec4da3"/>
    <p:sldId xmlns:r="http://schemas.openxmlformats.org/officeDocument/2006/relationships" id="270" r:id="Rc63d82d119ff4fcb"/>
    <p:sldId xmlns:r="http://schemas.openxmlformats.org/officeDocument/2006/relationships" id="271" r:id="Rc5f413b261844375"/>
    <p:sldId xmlns:r="http://schemas.openxmlformats.org/officeDocument/2006/relationships" id="272" r:id="Rf7af80b3159043b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80b3d5469494a" /><Relationship Type="http://schemas.openxmlformats.org/officeDocument/2006/relationships/theme" Target="/ppt/theme/theme1.xml" Id="Rf3f4eb9e46bf4605" /><Relationship Type="http://schemas.openxmlformats.org/officeDocument/2006/relationships/notesMaster" Target="/ppt/notesMasters/notesMaster1.xml" Id="Rf43ef2b7de7945b8" /><Relationship Type="http://schemas.openxmlformats.org/officeDocument/2006/relationships/presProps" Target="/ppt/presProps.xml" Id="Raae9463bb1ad4efa" /><Relationship Type="http://schemas.openxmlformats.org/officeDocument/2006/relationships/viewProps" Target="/ppt/viewProps.xml" Id="R5b98e6b3cec944bd" /><Relationship Type="http://schemas.openxmlformats.org/officeDocument/2006/relationships/tableStyles" Target="/ppt/tableStyles.xml" Id="R482582d631b24c84" /><Relationship Type="http://schemas.openxmlformats.org/officeDocument/2006/relationships/slide" Target="/ppt/slides/slide1.xml" Id="R4d6f52b56d024974" /><Relationship Type="http://schemas.openxmlformats.org/officeDocument/2006/relationships/slide" Target="/ppt/slides/slide2.xml" Id="R0de98c3890264cf9" /><Relationship Type="http://schemas.openxmlformats.org/officeDocument/2006/relationships/slide" Target="/ppt/slides/slide3.xml" Id="R182c4d5da3414819" /><Relationship Type="http://schemas.openxmlformats.org/officeDocument/2006/relationships/slide" Target="/ppt/slides/slide4.xml" Id="Rabae5688d68a4ae2" /><Relationship Type="http://schemas.openxmlformats.org/officeDocument/2006/relationships/slide" Target="/ppt/slides/slide5.xml" Id="R3d6b655d6d2b4925" /><Relationship Type="http://schemas.openxmlformats.org/officeDocument/2006/relationships/slide" Target="/ppt/slides/slide6.xml" Id="R87d846be82634586" /><Relationship Type="http://schemas.openxmlformats.org/officeDocument/2006/relationships/slide" Target="/ppt/slides/slide7.xml" Id="Re211996f8ad94d0e" /><Relationship Type="http://schemas.openxmlformats.org/officeDocument/2006/relationships/slide" Target="/ppt/slides/slide8.xml" Id="R9ef8b897e2ae4237" /><Relationship Type="http://schemas.openxmlformats.org/officeDocument/2006/relationships/slide" Target="/ppt/slides/slide9.xml" Id="R620d766bee6d4f5b" /><Relationship Type="http://schemas.openxmlformats.org/officeDocument/2006/relationships/slide" Target="/ppt/slides/slide10.xml" Id="Rd0ad4a1da5c74307" /><Relationship Type="http://schemas.openxmlformats.org/officeDocument/2006/relationships/slide" Target="/ppt/slides/slide11.xml" Id="R51c2fc41ddb44bf5" /><Relationship Type="http://schemas.openxmlformats.org/officeDocument/2006/relationships/slide" Target="/ppt/slides/slide12.xml" Id="Rb6a75e3f95f9441e" /><Relationship Type="http://schemas.openxmlformats.org/officeDocument/2006/relationships/slide" Target="/ppt/slides/slide13.xml" Id="R0c84acdadcdc41b7" /><Relationship Type="http://schemas.openxmlformats.org/officeDocument/2006/relationships/slide" Target="/ppt/slides/slide14.xml" Id="R84db0c90d9ec4da3" /><Relationship Type="http://schemas.openxmlformats.org/officeDocument/2006/relationships/slide" Target="/ppt/slides/slide15.xml" Id="Rc63d82d119ff4fcb" /><Relationship Type="http://schemas.openxmlformats.org/officeDocument/2006/relationships/slide" Target="/ppt/slides/slide16.xml" Id="Rc5f413b261844375" /><Relationship Type="http://schemas.openxmlformats.org/officeDocument/2006/relationships/slide" Target="/ppt/slides/slide17.xml" Id="Rf7af80b3159043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b2206ce52ef4a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d8476f2d2549f3" /><Relationship Type="http://schemas.openxmlformats.org/officeDocument/2006/relationships/notesMaster" Target="/ppt/notesMasters/notesMaster1.xml" Id="Rfc68bd5449e94b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31b51025de468d" /><Relationship Type="http://schemas.openxmlformats.org/officeDocument/2006/relationships/notesMaster" Target="/ppt/notesMasters/notesMaster1.xml" Id="Rea4f365bb3ea4b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9f211a16244d13" /><Relationship Type="http://schemas.openxmlformats.org/officeDocument/2006/relationships/notesMaster" Target="/ppt/notesMasters/notesMaster1.xml" Id="R7fae9f1ce7f440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e68fa550524019" /><Relationship Type="http://schemas.openxmlformats.org/officeDocument/2006/relationships/notesMaster" Target="/ppt/notesMasters/notesMaster1.xml" Id="R34c356af904248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313e4f8c334c83" /><Relationship Type="http://schemas.openxmlformats.org/officeDocument/2006/relationships/notesMaster" Target="/ppt/notesMasters/notesMaster1.xml" Id="Rde882e99e76a43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0f9804d7e4456e" /><Relationship Type="http://schemas.openxmlformats.org/officeDocument/2006/relationships/notesMaster" Target="/ppt/notesMasters/notesMaster1.xml" Id="R4dd4e8cd9af74a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a9464357124f8c" /><Relationship Type="http://schemas.openxmlformats.org/officeDocument/2006/relationships/notesMaster" Target="/ppt/notesMasters/notesMaster1.xml" Id="R1ff825a1cbab46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259db559a142e6" /><Relationship Type="http://schemas.openxmlformats.org/officeDocument/2006/relationships/notesMaster" Target="/ppt/notesMasters/notesMaster1.xml" Id="R1f269319d48341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dc8cf9bebb4eb8" /><Relationship Type="http://schemas.openxmlformats.org/officeDocument/2006/relationships/notesMaster" Target="/ppt/notesMasters/notesMaster1.xml" Id="R005442fa677f46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1915c12f3744f2" /><Relationship Type="http://schemas.openxmlformats.org/officeDocument/2006/relationships/notesMaster" Target="/ppt/notesMasters/notesMaster1.xml" Id="Rfd200459a46e4b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62907aabc94eed" /><Relationship Type="http://schemas.openxmlformats.org/officeDocument/2006/relationships/notesMaster" Target="/ppt/notesMasters/notesMaster1.xml" Id="R46f4abd2056a47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dc36bbdea8403d" /><Relationship Type="http://schemas.openxmlformats.org/officeDocument/2006/relationships/notesMaster" Target="/ppt/notesMasters/notesMaster1.xml" Id="Rc18d7e8e66c24c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b939b885714d7f" /><Relationship Type="http://schemas.openxmlformats.org/officeDocument/2006/relationships/notesMaster" Target="/ppt/notesMasters/notesMaster1.xml" Id="R68d3ed8aa23045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18db1c11174ac7" /><Relationship Type="http://schemas.openxmlformats.org/officeDocument/2006/relationships/notesMaster" Target="/ppt/notesMasters/notesMaster1.xml" Id="R9a16c600e52e4b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5d01387b9047ba" /><Relationship Type="http://schemas.openxmlformats.org/officeDocument/2006/relationships/notesMaster" Target="/ppt/notesMasters/notesMaster1.xml" Id="R020585718f604f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4623d65b3948bb" /><Relationship Type="http://schemas.openxmlformats.org/officeDocument/2006/relationships/notesMaster" Target="/ppt/notesMasters/notesMaster1.xml" Id="Rd584c0074e9444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59c41bd592494e" /><Relationship Type="http://schemas.openxmlformats.org/officeDocument/2006/relationships/notesMaster" Target="/ppt/notesMasters/notesMaster1.xml" Id="R4845dd9e62f74a7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as a small programming language called MiniLang. Explain that the project is designed to clearly demonstrate the required compiler phases and then execute valid programs.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implementation is pure Python, does not use parser generators, and is intentionally beginner-friendly.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MiniLang as intentionally small, but complete enough to demonstrate the required compiler concepts.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pipeline from source code to output. Mention that errors are caught at the appropriate phase.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lexer recognizes keywords, identifiers, integers, operators, symbols, comments, and EOF.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syntax analysis catches mistakes such as missing semicolons, missing parentheses, or invalid statement order.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out that the expression rules create operator precedence, so multiplication is parsed before addition.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symbol table and how it stores variable names and their types during semantic analysis.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interpreter walks the AST and keeps a runtime memory dictionary for variable values.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before running the command-line demo. Explain which MiniLang features appear in the program.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the valid program from the terminal and point out the labeled output sections.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Demonstrate the three invalid example files and explain why each error belongs to a different phase.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expression parsing was the trickiest part because the parser must understand precedence.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Summarize the project and emphasize that it demonstrates lexical analysis, syntax analysis, semantic analysis, and interpretation.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GUI and explain that it is only the interface layer. The compiler logic remains in the existing compiler classes.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GUI controls and explain what each output tab displays.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with the demo plan: first CLI, then GUI. Emphasize that both modes use the same compiler pipeline.</a:t>
            </a:r>
          </a:p>
        </p:txBody>
      </p:sp>
    </p:spTree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c9ad72909466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1748dff04714aaa" /><Relationship Type="http://schemas.openxmlformats.org/officeDocument/2006/relationships/slideLayout" Target="/ppt/slideLayouts/slideLayout2.xml" Id="R4f8b5f9f59b9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8b5f9f59b9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2660dfc9d941b5" /><Relationship Type="http://schemas.openxmlformats.org/officeDocument/2006/relationships/notesSlide" Target="/ppt/notesSlides/notesSlide1.xml" Id="Re9528923463648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977a99a384ba1" /><Relationship Type="http://schemas.openxmlformats.org/officeDocument/2006/relationships/notesSlide" Target="/ppt/notesSlides/notesSlide2.xml" Id="R751db75527794f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9dfe20b3e24803" /><Relationship Type="http://schemas.openxmlformats.org/officeDocument/2006/relationships/notesSlide" Target="/ppt/notesSlides/notesSlide3.xml" Id="R1881af67ffdc4b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196c86b544520" /><Relationship Type="http://schemas.openxmlformats.org/officeDocument/2006/relationships/notesSlide" Target="/ppt/notesSlides/notesSlide4.xml" Id="Rf8c350b5d84f46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734d37f9a34dce" /><Relationship Type="http://schemas.openxmlformats.org/officeDocument/2006/relationships/notesSlide" Target="/ppt/notesSlides/notesSlide5.xml" Id="R3feba132156542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a7ba9254294055" /><Relationship Type="http://schemas.openxmlformats.org/officeDocument/2006/relationships/notesSlide" Target="/ppt/notesSlides/notesSlide6.xml" Id="R64bb34aff8f040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ba00d2635941e5" /><Relationship Type="http://schemas.openxmlformats.org/officeDocument/2006/relationships/notesSlide" Target="/ppt/notesSlides/notesSlide7.xml" Id="Re09874d14d4d46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f08a8ff62d41a5" /><Relationship Type="http://schemas.openxmlformats.org/officeDocument/2006/relationships/notesSlide" Target="/ppt/notesSlides/notesSlide8.xml" Id="Rbb869485167e47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a01c0d2ff747ee" /><Relationship Type="http://schemas.openxmlformats.org/officeDocument/2006/relationships/notesSlide" Target="/ppt/notesSlides/notesSlide9.xml" Id="R7a9c231744ef4a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4de4f964646ca" /><Relationship Type="http://schemas.openxmlformats.org/officeDocument/2006/relationships/notesSlide" Target="/ppt/notesSlides/notesSlide10.xml" Id="R638e265e018149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6b41d104cc4685" /><Relationship Type="http://schemas.openxmlformats.org/officeDocument/2006/relationships/notesSlide" Target="/ppt/notesSlides/notesSlide11.xml" Id="R2a98649c93da4b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b39ebd08844594" /><Relationship Type="http://schemas.openxmlformats.org/officeDocument/2006/relationships/notesSlide" Target="/ppt/notesSlides/notesSlide12.xml" Id="R705dce8f460f42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ceb5d0f0594c0e" /><Relationship Type="http://schemas.openxmlformats.org/officeDocument/2006/relationships/notesSlide" Target="/ppt/notesSlides/notesSlide13.xml" Id="Rff5cb1b740df48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d267e4966b4f4a" /><Relationship Type="http://schemas.openxmlformats.org/officeDocument/2006/relationships/notesSlide" Target="/ppt/notesSlides/notesSlide14.xml" Id="R47f9b8becbe844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d550c80cbb43ac" /><Relationship Type="http://schemas.openxmlformats.org/officeDocument/2006/relationships/notesSlide" Target="/ppt/notesSlides/notesSlide15.xml" Id="Rcc99e42997e046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4932e889b9482d" /><Relationship Type="http://schemas.openxmlformats.org/officeDocument/2006/relationships/notesSlide" Target="/ppt/notesSlides/notesSlide16.xml" Id="R252d3ca70da04b7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0300de908145ac" /><Relationship Type="http://schemas.openxmlformats.org/officeDocument/2006/relationships/notesSlide" Target="/ppt/notesSlides/notesSlide17.xml" Id="R65594b3a2b0a41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F662A4C9-6D0A-454E-B3D4-14B669AE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3B"/>
          </a:solidFill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ABDCF7C-8293-4B6B-876E-E0631773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63830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850" b="1" i="0">
                <a:solidFill>
                  <a:srgbClr val="FFFFFF"/>
                </a:solidFill>
              </a:defRPr>
            </a:pPr>
            <a:r>
              <a:rPr sz="8850" b="1" i="0">
                <a:solidFill>
                  <a:srgbClr val="FFFFFF"/>
                </a:solidFill>
              </a:rPr>
              <a:t>MiniLang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CCC3102-4C25-4CF1-BD02-18C664D3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638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2B84B"/>
                </a:solidFill>
              </a:defRPr>
            </a:pPr>
            <a:r>
              <a:rPr sz="4350" b="1" i="0">
                <a:solidFill>
                  <a:srgbClr val="F2B84B"/>
                </a:solidFill>
              </a:rPr>
              <a:t>Compiler / Interpreter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B0BE7-FD34-432D-856D-FBA43071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342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2A806-DBFD-4DEB-936B-0AF25B2E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1200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D8ECE4"/>
                </a:solidFill>
              </a:defRPr>
            </a:pPr>
            <a:r>
              <a:rPr sz="2325" b="0" i="0">
                <a:solidFill>
                  <a:srgbClr val="D8ECE4"/>
                </a:solidFill>
              </a:rPr>
              <a:t>A beginner-friendly Python project that shows tokens, AST, semantic checks, and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2489E-32E3-4323-BB91-865B47AE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78980"/>
            <a:ext cx="16383000" cy="1729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A3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75549-F1F2-427D-8D7C-CE610842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334250"/>
            <a:ext cx="157734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EAF8F0"/>
                </a:solidFill>
              </a:defRPr>
            </a:pPr>
            <a:r>
              <a:rPr sz="2025" b="0" i="0">
                <a:solidFill>
                  <a:srgbClr val="EAF8F0"/>
                </a:solidFill>
              </a:rPr>
              <a:t>int x = 5;</a:t>
            </a:r>
          </a:p>
          <a:p xmlns:a="http://schemas.openxmlformats.org/drawingml/2006/main">
            <a:pPr>
              <a:defRPr sz="2025" b="0" i="0">
                <a:solidFill>
                  <a:srgbClr val="EAF8F0"/>
                </a:solidFill>
              </a:defRPr>
            </a:pPr>
            <a:r>
              <a:rPr sz="2025" b="0" i="0">
                <a:solidFill>
                  <a:srgbClr val="EAF8F0"/>
                </a:solidFill>
              </a:rPr>
              <a:t>print(x);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 i="0">
                <a:solidFill>
                  <a:srgbClr val="EAF8F0"/>
                </a:solidFill>
              </a:defRPr>
            </a:pPr>
            <a:r>
              <a:rPr sz="2025" b="0" i="0">
                <a:solidFill>
                  <a:srgbClr val="EAF8F0"/>
                </a:solidFill>
              </a:rPr>
              <a:t>// Source -&gt; Tokens -&gt; AST -&gt; Checked meaning -&gt;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98EB6-67C1-492F-AE9F-F10C0EF3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124950"/>
            <a:ext cx="1676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BD7CD"/>
                </a:solidFill>
              </a:defRPr>
            </a:pPr>
            <a:r>
              <a:rPr sz="1350" b="0" i="0">
                <a:solidFill>
                  <a:srgbClr val="BBD7CD"/>
                </a:solidFill>
              </a:rPr>
              <a:t>Compiler Design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2744D-B443-471B-A078-7DD7238B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124950"/>
            <a:ext cx="114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BD7CD"/>
                </a:solidFill>
              </a:defRPr>
            </a:pPr>
            <a:r>
              <a:rPr sz="1350" b="0" i="0">
                <a:solidFill>
                  <a:srgbClr val="BBD7CD"/>
                </a:solidFill>
              </a:rPr>
              <a:t>Python + Tkinter</a:t>
            </a:r>
          </a:p>
        </p:txBody>
      </p:sp>
    </p:spTree>
    <p:extLst>
      <p:ext uri="{BB962C8B-B14F-4D97-AF65-F5344CB8AC3E}">
        <p14:creationId xmlns:p14="http://schemas.microsoft.com/office/powerpoint/2010/main" val="6248939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D54AADD-C414-4C01-BACE-0A46ECF7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93005-525E-4816-8A76-8F85B458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7C4F0C-F4E8-433B-B2EE-96C6AFCB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Project Objective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48C44B-584E-4DF5-8BA3-BA7F6D54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Build a simple language that is easy to explain from source code to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DCD9E-57DF-4B2C-BA75-CB03E205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817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2343B"/>
                </a:solidFill>
              </a:defRPr>
            </a:pPr>
            <a:r>
              <a:rPr sz="3600" b="1" i="0">
                <a:solidFill>
                  <a:srgbClr val="12343B"/>
                </a:solidFill>
              </a:rPr>
              <a:t>The goal is not to build a huge compiler.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43D5D-EF18-4F4D-A48C-B60D78CE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8172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31535B"/>
                </a:solidFill>
              </a:defRPr>
            </a:pPr>
            <a:r>
              <a:rPr sz="2325" b="0" i="0">
                <a:solidFill>
                  <a:srgbClr val="31535B"/>
                </a:solidFill>
              </a:rPr>
              <a:t>The goal is to make the main compiler phases visible, understandable, and testable.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0D1AC-0DB3-4E74-A493-F5259E13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9CAB1-F1F6-4582-AE1A-C765D189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098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Read MiniLang source code from a file or GUI editor.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3001D-8036-4B35-BC6E-47788E2F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432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BFD69-C257-453C-83F6-E0E4377D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432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Convert source code into tokens using a lexer.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D32E1-F328-4F2B-917F-8B4C67EC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85C88-3785-4345-BDC8-DF9BCE44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575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Build an Abstract Syntax Tree using recursive descent parsing.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0FCFE-8754-44C8-870D-CCBEBD4B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719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2D828-4231-4BD0-BB53-B63ED636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719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Check meaning with a symbol table and type rules.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3569F-7797-4692-8893-1012DA52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053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2EEB8-FDAA-4BEA-A334-B6DDAB5A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053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Execute valid programs using a tree-walking interpreter.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3335C-7EF3-4C71-B8EC-74CD5954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58F4F-EB50-4D9A-9EC8-8AF21CB8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5912987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D9CDBB1-1615-4890-8591-E5E96D81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6C49-C301-432F-9086-F8B075B5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1D0EF2-E5A9-4708-94F3-04BEAA66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What is MiniLang?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252A718-2F18-4A78-8F39-51817EE5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A small educational language with just enough features to feel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8DA5D-E539-4C1E-BFFB-1FEAF844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81724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12343B"/>
                </a:solidFill>
              </a:defRPr>
            </a:pPr>
            <a:r>
              <a:rPr sz="3450" b="1" i="0">
                <a:solidFill>
                  <a:srgbClr val="12343B"/>
                </a:solidFill>
              </a:rPr>
              <a:t>MiniLang supports the language features expected in a small class compiler.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1409F-BE69-408C-95DA-F4B97D68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52781-3535-4C1C-978C-EEFEA90F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8172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31535B"/>
                </a:solidFill>
              </a:defRPr>
            </a:pPr>
            <a:r>
              <a:rPr sz="2325" b="0" i="0">
                <a:solidFill>
                  <a:srgbClr val="31535B"/>
                </a:solidFill>
              </a:rPr>
              <a:t>It includes variables, expressions, conditions, loops, print statements, and comments.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5C731-1159-4069-81BD-623D6D68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E8B57"/>
                </a:solidFill>
              </a:defRPr>
            </a:pPr>
            <a:r>
              <a:rPr sz="1500" b="1" i="0">
                <a:solidFill>
                  <a:srgbClr val="2E8B57"/>
                </a:solidFill>
              </a:rPr>
              <a:t>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DAB58-6DEE-4864-8AD8-4C69B047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396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2343B"/>
                </a:solidFill>
              </a:defRPr>
            </a:pPr>
            <a:r>
              <a:rPr sz="2100" b="0" i="0">
                <a:solidFill>
                  <a:srgbClr val="12343B"/>
                </a:solidFill>
              </a:rPr>
              <a:t>int, bool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C29EF-2E5A-4800-925D-E6036064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20980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3C7DAD"/>
                </a:solidFill>
              </a:defRPr>
            </a:pPr>
            <a:r>
              <a:rPr sz="1500" b="1" i="0">
                <a:solidFill>
                  <a:srgbClr val="3C7DAD"/>
                </a:solidFill>
              </a:rPr>
              <a:t>Statements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E2359-31B5-4CB8-BF19-BE371F06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533650"/>
            <a:ext cx="396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2343B"/>
                </a:solidFill>
              </a:defRPr>
            </a:pPr>
            <a:r>
              <a:rPr sz="2100" b="0" i="0">
                <a:solidFill>
                  <a:srgbClr val="12343B"/>
                </a:solidFill>
              </a:rPr>
              <a:t>declaration, assignment, print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6F94F-2E3C-4C98-8B2B-22473D8B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5B4B8A"/>
                </a:solidFill>
              </a:defRPr>
            </a:pPr>
            <a:r>
              <a:rPr sz="1500" b="1" i="0">
                <a:solidFill>
                  <a:srgbClr val="5B4B8A"/>
                </a:solidFill>
              </a:rPr>
              <a:t>Control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1EC8B-F35F-4EAE-8D34-976B3E20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95850"/>
            <a:ext cx="396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2343B"/>
                </a:solidFill>
              </a:defRPr>
            </a:pPr>
            <a:r>
              <a:rPr sz="2100" b="0" i="0">
                <a:solidFill>
                  <a:srgbClr val="12343B"/>
                </a:solidFill>
              </a:rPr>
              <a:t>if / else, while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5E045-2523-4A17-9B17-A9572D1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57200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65050"/>
                </a:solidFill>
              </a:defRPr>
            </a:pPr>
            <a:r>
              <a:rPr sz="1500" b="1" i="0">
                <a:solidFill>
                  <a:srgbClr val="D65050"/>
                </a:solidFill>
              </a:rPr>
              <a:t>Expressions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B02CB-8A79-48C5-9026-E1D2BADD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895850"/>
            <a:ext cx="396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2343B"/>
                </a:solidFill>
              </a:defRPr>
            </a:pPr>
            <a:r>
              <a:rPr sz="2100" b="0" i="0">
                <a:solidFill>
                  <a:srgbClr val="12343B"/>
                </a:solidFill>
              </a:rPr>
              <a:t>+ - * / and comparisons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41A4E-2CAB-4781-BA1B-F8808A0B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95325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2B84B"/>
                </a:solidFill>
              </a:defRPr>
            </a:pPr>
            <a:r>
              <a:rPr sz="1500" b="1" i="0">
                <a:solidFill>
                  <a:srgbClr val="F2B84B"/>
                </a:solidFill>
              </a:rPr>
              <a:t>Comments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FA0000-94C4-4C33-BD79-47830AE2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277100"/>
            <a:ext cx="396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2343B"/>
                </a:solidFill>
              </a:defRPr>
            </a:pPr>
            <a:r>
              <a:rPr sz="2100" b="0" i="0">
                <a:solidFill>
                  <a:srgbClr val="12343B"/>
                </a:solidFill>
              </a:rPr>
              <a:t>// and /* ... */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A1896-4B72-45B6-A359-A80DA600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695325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E8B57"/>
                </a:solidFill>
              </a:defRPr>
            </a:pPr>
            <a:r>
              <a:rPr sz="1500" b="1" i="0">
                <a:solidFill>
                  <a:srgbClr val="2E8B57"/>
                </a:solidFill>
              </a:rPr>
              <a:t>Errors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20FC2-E704-4543-A964-3844951F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7277100"/>
            <a:ext cx="396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2343B"/>
                </a:solidFill>
              </a:defRPr>
            </a:pPr>
            <a:r>
              <a:rPr sz="2100" b="0" i="0">
                <a:solidFill>
                  <a:srgbClr val="12343B"/>
                </a:solidFill>
              </a:rPr>
              <a:t>lexical, syntax, semantic, runtime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4DD57-8B22-4D82-92EF-99D9923D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D9EE8-237E-4F2B-B6AF-084392AB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03 / 17</a:t>
            </a:r>
          </a:p>
        </p:txBody>
      </p:sp>
    </p:spTree>
    <p:extLst>
      <p:ext uri="{BB962C8B-B14F-4D97-AF65-F5344CB8AC3E}">
        <p14:creationId xmlns:p14="http://schemas.microsoft.com/office/powerpoint/2010/main" val="7273518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6D0F19F-A2CE-46B2-8BDC-03D36881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BF036-68BF-43EC-8154-8A490BBF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F76EC9-F3C7-4B95-8695-4CFF6016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Compiler Phases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F99EA4-5518-404B-A0DF-4EEA7E7A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Every program moves through the same pipeline before it can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59F47-09EB-4DD6-BB89-E0505007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517309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3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DCD05-A9B4-4080-AF74-B42B77F2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Source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EDFA3-CF19-4F62-9A83-7EC699CF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4850"/>
            <a:ext cx="266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1535B"/>
                </a:solidFill>
              </a:defRPr>
            </a:pPr>
            <a:r>
              <a:rPr sz="2550" b="1" i="0">
                <a:solidFill>
                  <a:srgbClr val="31535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84E7C-6BC9-4653-B5F0-728BCDD1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455" y="4248150"/>
            <a:ext cx="517309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0E8A6-1D55-4FD9-9924-BF1141A3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Lexical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504B2-E3FB-48B4-9486-86B8D14F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514850"/>
            <a:ext cx="266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1535B"/>
                </a:solidFill>
              </a:defRPr>
            </a:pPr>
            <a:r>
              <a:rPr sz="2550" b="1" i="0">
                <a:solidFill>
                  <a:srgbClr val="31535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8860B-28F3-4A3A-ADA8-87A31039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859" y="4248150"/>
            <a:ext cx="517309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DAD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11A3F-3F4F-4218-B011-B181174A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45770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Syntax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8F6AC-D1CC-40E2-A8D5-E87C51A4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517309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6DB24-2FDE-4D43-BC2A-5ACFCB95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959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Semantic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6F600-A718-46FD-9FD8-2F23E831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53100"/>
            <a:ext cx="266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1535B"/>
                </a:solidFill>
              </a:defRPr>
            </a:pPr>
            <a:r>
              <a:rPr sz="2550" b="1" i="0">
                <a:solidFill>
                  <a:srgbClr val="31535B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E2C29-F177-4175-9272-D055851A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455" y="5486400"/>
            <a:ext cx="517309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05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78C57-31EE-4DA2-BC43-BDEE017C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959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BADAB-F7BC-46F6-916E-AEDAA960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753100"/>
            <a:ext cx="266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1535B"/>
                </a:solidFill>
              </a:defRPr>
            </a:pPr>
            <a:r>
              <a:rPr sz="2550" b="1" i="0">
                <a:solidFill>
                  <a:srgbClr val="31535B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76789-500D-4EFA-A1AC-960EA81F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859" y="5486400"/>
            <a:ext cx="517309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AE86B-2B43-46E8-BBED-4693F59D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56959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43B"/>
                </a:solidFill>
              </a:defRPr>
            </a:pPr>
            <a:r>
              <a:rPr sz="1875" b="1" i="0">
                <a:solidFill>
                  <a:srgbClr val="12343B"/>
                </a:solidFill>
              </a:rPr>
              <a:t>Program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A9204-EBCB-495B-B349-80FF156E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24650"/>
            <a:ext cx="16725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2343B"/>
                </a:solidFill>
              </a:defRPr>
            </a:pPr>
            <a:r>
              <a:rPr sz="2325" b="1" i="0">
                <a:solidFill>
                  <a:srgbClr val="12343B"/>
                </a:solidFill>
              </a:rPr>
              <a:t>If any phase finds an error, the compiler stops and displays a clear message.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B6DA3-3225-400B-BB94-CB11A6EE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73068-39D1-422C-A3D9-82A20725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04 / 17</a:t>
            </a:r>
          </a:p>
        </p:txBody>
      </p:sp>
    </p:spTree>
    <p:extLst>
      <p:ext uri="{BB962C8B-B14F-4D97-AF65-F5344CB8AC3E}">
        <p14:creationId xmlns:p14="http://schemas.microsoft.com/office/powerpoint/2010/main" val="6727498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B4D21C2-E0E7-4714-A664-93210228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2B505-9ACE-42A9-877F-2F871047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A57D39-0557-47FC-94C5-89A2EE98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Lexical Analysis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5DBB74-1D25-4609-8E33-E7D4B59D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The lexer reads characters and produces a token stream.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927E6-B06C-4DB0-BCAD-623C264F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37EE1-260B-4D00-BE98-44A98A45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8162925" cy="116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F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C0480-3FDD-4EAC-A99E-DFBE9418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7639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int x = 5;</a:t>
            </a:r>
          </a:p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print(x);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2DAE4-F920-4510-A75B-5DB144C0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817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31535B"/>
                </a:solidFill>
              </a:defRPr>
            </a:pPr>
            <a:r>
              <a:rPr sz="2100" b="0" i="0">
                <a:solidFill>
                  <a:srgbClr val="31535B"/>
                </a:solidFill>
              </a:rPr>
              <a:t>Whitespace and comments are ignored. Meaningful parts become tokens.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1ACD0-B7A3-498B-9783-5DF2EB21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1123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C7DAD"/>
                </a:solidFill>
              </a:defRPr>
            </a:pPr>
            <a:r>
              <a:rPr sz="1350" b="1" i="0">
                <a:solidFill>
                  <a:srgbClr val="3C7DAD"/>
                </a:solidFill>
              </a:rPr>
              <a:t>TOKEN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5ADF2-1A00-4069-AA08-37172C7F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09850"/>
            <a:ext cx="8162925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3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FF144-84AB-4FA6-BFB8-8643A1A6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38450"/>
            <a:ext cx="763905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Token(INT, int)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Token(IDENTIFIER, x)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Token(ASSIGN, =)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Token(INTEGER, 5)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Token(SEMICOLON, ;)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Token(PRINT, print)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Token(LPAREN, ()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Token(IDENTIFIER, x)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Token(RPAREN, ))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Token(SEMICOLON, ;)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Token(EOF, EOF)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1D141-85A0-467C-A2FD-344BDEBC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838D6-0F14-4BA5-9AA4-F1CF842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05 / 17</a:t>
            </a:r>
          </a:p>
        </p:txBody>
      </p:sp>
    </p:spTree>
    <p:extLst>
      <p:ext uri="{BB962C8B-B14F-4D97-AF65-F5344CB8AC3E}">
        <p14:creationId xmlns:p14="http://schemas.microsoft.com/office/powerpoint/2010/main" val="9974570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E99C41C-1EB4-4477-AE08-9CEF8B45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71AA2-ACF2-449C-A966-46ED4DD7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A085E5-86EC-4567-A6BC-4E1A1656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Syntax Analysis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C302FE-6343-42CE-A1CE-9B0A371C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The parser checks grammar rules and builds an Abstract Syntax Tree.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5784A-5EAE-45C5-94A3-D539CE3D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8172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 b="1" i="0">
                <a:solidFill>
                  <a:srgbClr val="12343B"/>
                </a:solidFill>
              </a:defRPr>
            </a:pPr>
            <a:r>
              <a:rPr sz="3375" b="1" i="0">
                <a:solidFill>
                  <a:srgbClr val="12343B"/>
                </a:solidFill>
              </a:rPr>
              <a:t>Recursive descent parsing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571F2-D8D9-441C-85F4-A00F940C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C7DAD"/>
                </a:solidFill>
              </a:defRPr>
            </a:pPr>
            <a:r>
              <a:rPr sz="1800" b="1" i="0">
                <a:solidFill>
                  <a:srgbClr val="3C7DA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0D62C-A00E-484B-9207-22C6E500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Each grammar rule is implemented as a parser method.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1B328-FD8A-4D6D-9BC4-280E2F12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C7DAD"/>
                </a:solidFill>
              </a:defRPr>
            </a:pPr>
            <a:r>
              <a:rPr sz="1800" b="1" i="0">
                <a:solidFill>
                  <a:srgbClr val="3C7DA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E9773-01D3-4C91-B5FB-E65AFBAF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671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The parser consumes tokens in the correct order.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55B03-07C2-485C-8565-73DC9F95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C7DAD"/>
                </a:solidFill>
              </a:defRPr>
            </a:pPr>
            <a:r>
              <a:rPr sz="1800" b="1" i="0">
                <a:solidFill>
                  <a:srgbClr val="3C7DA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FC094-D460-4969-9D6E-2D86C930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14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Expressions are parsed with precedence.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66D0F-A004-4220-83E9-FB571127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C7DAD"/>
                </a:solidFill>
              </a:defRPr>
            </a:pPr>
            <a:r>
              <a:rPr sz="1800" b="1" i="0">
                <a:solidFill>
                  <a:srgbClr val="3C7DAD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EF6EB-4CDF-4F9A-B9DB-C85EFA0D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The result is an AST used by later phases.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78BA3-BEF8-4971-ABAB-DB9D53DB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13610"/>
            <a:ext cx="8162925" cy="691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6B21A-E575-4D7A-A353-62F53C4B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76390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Program</a:t>
            </a:r>
          </a:p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  Declaration: int x = 5</a:t>
            </a:r>
          </a:p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    Initializer:</a:t>
            </a:r>
          </a:p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      Integer: 5</a:t>
            </a:r>
          </a:p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  Print</a:t>
            </a:r>
          </a:p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    Identifier: 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387CE-FA27-4E23-9004-EEB2ABB2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64781-9C9F-4CEB-8C1A-0A5F0319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06 / 17</a:t>
            </a:r>
          </a:p>
        </p:txBody>
      </p:sp>
    </p:spTree>
    <p:extLst>
      <p:ext uri="{BB962C8B-B14F-4D97-AF65-F5344CB8AC3E}">
        <p14:creationId xmlns:p14="http://schemas.microsoft.com/office/powerpoint/2010/main" val="13047912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AEC75E8-0441-469A-97BA-8081ED0E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2449E-3420-4FB9-8E56-6799AC2D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0DA333-1C5D-4410-A0E9-99CFDDD7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Grammar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648AF8-A016-4670-AA4B-D2066A50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The grammar defines what valid MiniLang programs look like.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C68F4-F7D8-4F30-861C-41559D19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3610"/>
            <a:ext cx="8229600" cy="691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83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C7E73-A270-42A8-A7CE-E85CBD28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7696200" cy="377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program     -&gt; statement*</a:t>
            </a:r>
          </a:p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statement   -&gt; declaration</a:t>
            </a:r>
          </a:p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             | assignment</a:t>
            </a:r>
          </a:p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             | print_stmt</a:t>
            </a:r>
          </a:p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             | if_stmt</a:t>
            </a:r>
          </a:p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             | while_stmt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declaration -&gt; type IDENTIFIER</a:t>
            </a:r>
          </a:p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               ("=" expression)? ";"</a:t>
            </a:r>
          </a:p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type        -&gt; "int" | "bool"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assignment  -&gt; IDENTIFIER "="</a:t>
            </a:r>
          </a:p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               expression ";"</a:t>
            </a:r>
          </a:p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print_stmt  -&gt; "print" "("</a:t>
            </a:r>
          </a:p>
          <a:p xmlns:a="http://schemas.openxmlformats.org/drawingml/2006/main">
            <a:pPr>
              <a:defRPr sz="1650" b="0" i="0">
                <a:solidFill>
                  <a:srgbClr val="EAF8F0"/>
                </a:solidFill>
              </a:defRPr>
            </a:pPr>
            <a:r>
              <a:rPr sz="1650" b="0" i="0">
                <a:solidFill>
                  <a:srgbClr val="EAF8F0"/>
                </a:solidFill>
              </a:rPr>
              <a:t>               expression ")" ";"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EF9DD-BFCA-497D-AFFD-65C30AE5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13610"/>
            <a:ext cx="8229600" cy="691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830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76DD1-F668-4DA4-834A-9D18CF52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38400"/>
            <a:ext cx="7696200" cy="365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if_stmt     -&gt; "if" "(" expression ")"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               block ("else" block)?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while_stmt  -&gt; "while" "(" expression ")"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               block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block       -&gt; "{" statement* "}"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expression  -&gt; equality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equality    -&gt; comparison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               (("==" | "!=") comparison)*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comparison  -&gt; term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               (("&lt;" | "&gt;" | "&lt;=" | "&gt;=") term)*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term        -&gt; factor (("+" | "-") factor)*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factor      -&gt; unary (("*" | "/") unary)*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unary       -&gt; "-" unary | primary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primary     -&gt; INTEGER | true | false</a:t>
            </a:r>
          </a:p>
          <a:p xmlns:a="http://schemas.openxmlformats.org/drawingml/2006/main">
            <a:pPr>
              <a:defRPr sz="1500" b="0" i="0">
                <a:solidFill>
                  <a:srgbClr val="EAF8F0"/>
                </a:solidFill>
              </a:defRPr>
            </a:pPr>
            <a:r>
              <a:rPr sz="1500" b="0" i="0">
                <a:solidFill>
                  <a:srgbClr val="EAF8F0"/>
                </a:solidFill>
              </a:rPr>
              <a:t>             | IDENTIFIER | "(" expression ")"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FAAE4-B508-47AA-B6FE-74A3ACD7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B6948-370A-4505-AAB1-A92412FB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07 / 17</a:t>
            </a:r>
          </a:p>
        </p:txBody>
      </p:sp>
    </p:spTree>
    <p:extLst>
      <p:ext uri="{BB962C8B-B14F-4D97-AF65-F5344CB8AC3E}">
        <p14:creationId xmlns:p14="http://schemas.microsoft.com/office/powerpoint/2010/main" val="17621148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33D7324-CCAC-4694-84AE-512D16C7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09BB4-D79D-42F3-950F-BFE2034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B3089C-B781-4F07-9C6D-21C1CA10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Semantic Analysis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9A8B6FD-E39C-4134-8C3E-EB540AA5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This phase checks whether the parsed program makes sense.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002DB-EA18-4FF6-B116-D89DB920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81724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12343B"/>
                </a:solidFill>
              </a:defRPr>
            </a:pPr>
            <a:r>
              <a:rPr sz="3450" b="1" i="0">
                <a:solidFill>
                  <a:srgbClr val="12343B"/>
                </a:solidFill>
              </a:rPr>
              <a:t>Syntax can be correct while meaning is wrong.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8DBDD-7C9E-4B93-8CD1-779224EC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0680"/>
            <a:ext cx="8162925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1B1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A806E-4D20-4D31-9354-C2919A72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76390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EAF8F0"/>
                </a:solidFill>
              </a:defRPr>
            </a:pPr>
            <a:r>
              <a:rPr sz="2400" b="0" i="0">
                <a:solidFill>
                  <a:srgbClr val="EAF8F0"/>
                </a:solidFill>
              </a:rPr>
              <a:t>int age = 20;</a:t>
            </a:r>
          </a:p>
          <a:p xmlns:a="http://schemas.openxmlformats.org/drawingml/2006/main">
            <a:pPr>
              <a:defRPr sz="2400" b="0" i="0">
                <a:solidFill>
                  <a:srgbClr val="EAF8F0"/>
                </a:solidFill>
              </a:defRPr>
            </a:pPr>
            <a:r>
              <a:rPr sz="2400" b="0" i="0">
                <a:solidFill>
                  <a:srgbClr val="EAF8F0"/>
                </a:solidFill>
              </a:rPr>
              <a:t>age = true;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8AC6E-880C-410B-8704-40F656FC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0"/>
            <a:ext cx="817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D65050"/>
                </a:solidFill>
              </a:defRPr>
            </a:pPr>
            <a:r>
              <a:rPr sz="2100" b="1" i="0">
                <a:solidFill>
                  <a:srgbClr val="D65050"/>
                </a:solidFill>
              </a:rPr>
              <a:t>This is syntactically valid, but semantically invalid.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16BC7-A9F3-4E55-BE10-B2668E97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52900"/>
            <a:ext cx="552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4B8A"/>
                </a:solidFill>
              </a:defRPr>
            </a:pPr>
            <a:r>
              <a:rPr sz="1350" b="1" i="0">
                <a:solidFill>
                  <a:srgbClr val="5B4B8A"/>
                </a:solidFill>
              </a:rPr>
              <a:t>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CECFB-3CB3-48C9-A537-9B536285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625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B4B8A"/>
                </a:solidFill>
              </a:defRPr>
            </a:pPr>
            <a:r>
              <a:rPr sz="1800" b="1" i="0">
                <a:solidFill>
                  <a:srgbClr val="5B4B8A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ADC57-AB14-4EE2-B3C0-B6F218BB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7625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Variables must be declared before 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07AB4-E001-45CC-8270-76F6ECA2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768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B4B8A"/>
                </a:solidFill>
              </a:defRPr>
            </a:pPr>
            <a:r>
              <a:rPr sz="1800" b="1" i="0">
                <a:solidFill>
                  <a:srgbClr val="5B4B8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0DC47-C23F-4734-917E-E779386A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2768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Variables cannot be declared twice in the same scope.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AB518-0813-4A5F-BE84-E67B4A4D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8102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B4B8A"/>
                </a:solidFill>
              </a:defRPr>
            </a:pPr>
            <a:r>
              <a:rPr sz="1800" b="1" i="0">
                <a:solidFill>
                  <a:srgbClr val="5B4B8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68763-0CB4-43F3-888F-69D1C67F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102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Assignments must match declared variable types.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A0E19-F1F0-4219-8BD4-C9D3BAB1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3246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B4B8A"/>
                </a:solidFill>
              </a:defRPr>
            </a:pPr>
            <a:r>
              <a:rPr sz="1800" b="1" i="0">
                <a:solidFill>
                  <a:srgbClr val="5B4B8A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2A205-0841-4DC7-BC2B-DADC1FC2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3246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if and while conditions must be boolean.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F582D-30B6-4822-9F3B-7C792808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8389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B4B8A"/>
                </a:solidFill>
              </a:defRPr>
            </a:pPr>
            <a:r>
              <a:rPr sz="1800" b="1" i="0">
                <a:solidFill>
                  <a:srgbClr val="5B4B8A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10599-CA90-4290-9E1D-24D1F606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8389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Arithmetic operators only work with integers.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B4A4A-B80C-496A-8CF6-6FAC7524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CE0D2-84EE-47B6-9A1C-53B52328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08 / 17</a:t>
            </a:r>
          </a:p>
        </p:txBody>
      </p:sp>
    </p:spTree>
    <p:extLst>
      <p:ext uri="{BB962C8B-B14F-4D97-AF65-F5344CB8AC3E}">
        <p14:creationId xmlns:p14="http://schemas.microsoft.com/office/powerpoint/2010/main" val="16162960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5297009-0E5F-4E06-9621-01669E87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A008C-DA9D-4CE4-A760-A5A7C97D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6BA9FC-15A9-4B62-9CCD-E21AFABA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Interpreter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783C5C-2DD9-4351-B757-3D85D988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After successful analysis, the interpreter executes the AST.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6D3CE-1247-4A39-A4C4-BA9ABDD1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8172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2343B"/>
                </a:solidFill>
              </a:defRPr>
            </a:pPr>
            <a:r>
              <a:rPr sz="3300" b="1" i="0">
                <a:solidFill>
                  <a:srgbClr val="12343B"/>
                </a:solidFill>
              </a:rPr>
              <a:t>Execution responsibilities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F8E3D-4EF8-4A54-BA57-FEDB289A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D65050"/>
                </a:solidFill>
              </a:defRPr>
            </a:pPr>
            <a:r>
              <a:rPr sz="1800" b="1" i="0">
                <a:solidFill>
                  <a:srgbClr val="D6505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6DA1C-046A-446B-BBC5-DDDF3D32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Store variable values in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AD254-CC76-424C-9721-54C6475D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D65050"/>
                </a:solidFill>
              </a:defRPr>
            </a:pPr>
            <a:r>
              <a:rPr sz="1800" b="1" i="0">
                <a:solidFill>
                  <a:srgbClr val="D65050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7DF92-5478-4310-9410-9B44EC0C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480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Evaluate expressions.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E9CF2-5CD1-40C4-B971-332383D7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D65050"/>
                </a:solidFill>
              </a:defRPr>
            </a:pPr>
            <a:r>
              <a:rPr sz="1800" b="1" i="0">
                <a:solidFill>
                  <a:srgbClr val="D65050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58053-B28E-419B-BA1A-06EF33C3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624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Run assignments and print statements.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9E62E-0AD7-42E6-89F0-4C2C41C9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D65050"/>
                </a:solidFill>
              </a:defRPr>
            </a:pPr>
            <a:r>
              <a:rPr sz="1800" b="1" i="0">
                <a:solidFill>
                  <a:srgbClr val="D65050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C179F-5080-40A3-A64D-2F185C22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Choose if or else blocks.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21803-6258-4535-9B21-EC8D5072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D65050"/>
                </a:solidFill>
              </a:defRPr>
            </a:pPr>
            <a:r>
              <a:rPr sz="1800" b="1" i="0">
                <a:solidFill>
                  <a:srgbClr val="D65050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8941C-B278-49E5-B83A-0FB35165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Repeat while loop bodies.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A5558-AA60-46D1-8B84-E33A9501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68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948E0-DD80-425C-924C-A54BABA6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8B57"/>
                </a:solidFill>
              </a:defRPr>
            </a:pPr>
            <a:r>
              <a:rPr sz="1650" b="1" i="0">
                <a:solidFill>
                  <a:srgbClr val="2E8B57"/>
                </a:solidFill>
              </a:rPr>
              <a:t>Variable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967D5-0CB9-4356-BCD5-94C00150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05150"/>
            <a:ext cx="5600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8B57"/>
                </a:solidFill>
              </a:defRPr>
            </a:pPr>
            <a:r>
              <a:rPr sz="1650" b="1" i="0">
                <a:solidFill>
                  <a:srgbClr val="2E8B57"/>
                </a:solidFill>
              </a:rPr>
              <a:t>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47B65-FACA-4701-B341-6BB40F44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2343B"/>
                </a:solidFill>
              </a:defRPr>
            </a:pPr>
            <a:r>
              <a:rPr sz="1800" b="1" i="0">
                <a:solidFill>
                  <a:srgbClr val="12343B"/>
                </a:solidFill>
              </a:rPr>
              <a:t>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741E8-A5DD-44CC-9BB6-CAAC8AA6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00450"/>
            <a:ext cx="5600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2343B"/>
                </a:solidFill>
              </a:defRPr>
            </a:pPr>
            <a:r>
              <a:rPr sz="1800" b="0" i="0">
                <a:solidFill>
                  <a:srgbClr val="12343B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E7A78-D433-418B-A4F2-968A8036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9575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2343B"/>
                </a:solidFill>
              </a:defRPr>
            </a:pPr>
            <a:r>
              <a:rPr sz="1800" b="1" i="0">
                <a:solidFill>
                  <a:srgbClr val="12343B"/>
                </a:solidFill>
              </a:rPr>
              <a:t>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43864-AC44-4088-A36E-C13CCCA1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95750"/>
            <a:ext cx="5600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2343B"/>
                </a:solidFill>
              </a:defRPr>
            </a:pPr>
            <a:r>
              <a:rPr sz="1800" b="0" i="0">
                <a:solidFill>
                  <a:srgbClr val="12343B"/>
                </a:solidFill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CD0FE7-4E8C-4FF7-93BC-D46F7247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9105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2343B"/>
                </a:solidFill>
              </a:defRPr>
            </a:pPr>
            <a:r>
              <a:rPr sz="1800" b="1" i="0">
                <a:solidFill>
                  <a:srgbClr val="12343B"/>
                </a:solidFill>
              </a:rPr>
              <a:t>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78B38B-38CF-4031-A7B9-6DC3BB4A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591050"/>
            <a:ext cx="5600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2343B"/>
                </a:solidFill>
              </a:defRPr>
            </a:pPr>
            <a:r>
              <a:rPr sz="1800" b="0" i="0">
                <a:solidFill>
                  <a:srgbClr val="12343B"/>
                </a:solidFill>
              </a:rPr>
              <a:t>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653F69-C514-4CAC-A909-27D65219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054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2343B"/>
                </a:solidFill>
              </a:defRPr>
            </a:pPr>
            <a:r>
              <a:rPr sz="1800" b="1" i="0">
                <a:solidFill>
                  <a:srgbClr val="12343B"/>
                </a:solidFill>
              </a:rPr>
              <a:t>isLarge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7E3CB-48F3-4F44-8575-3499D136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05400"/>
            <a:ext cx="5600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2343B"/>
                </a:solidFill>
              </a:defRPr>
            </a:pPr>
            <a:r>
              <a:rPr sz="1800" b="0" i="0">
                <a:solidFill>
                  <a:srgbClr val="12343B"/>
                </a:solidFill>
              </a:rPr>
              <a:t>true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7FE1E0-9475-4523-8A56-E9E727B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0"/>
            <a:ext cx="817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0"/>
          </a:solidFill>
          <a:ln xmlns:a="http://schemas.openxmlformats.org/drawingml/2006/main" w="0">
            <a:solidFill>
              <a:srgbClr val="C7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FC418A-B9A7-4570-B280-01B10133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96265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2B84B"/>
                </a:solidFill>
              </a:defRPr>
            </a:pPr>
            <a:r>
              <a:rPr sz="1350" b="1" i="0">
                <a:solidFill>
                  <a:srgbClr val="F2B84B"/>
                </a:solidFill>
              </a:rPr>
              <a:t>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15FA4C-21CB-41B9-83D5-FE57636D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6398895"/>
            <a:ext cx="8162925" cy="258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E99B0A-1060-4BA5-868B-8DCF70B6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29400"/>
            <a:ext cx="76390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25</a:t>
            </a:r>
          </a:p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6</a:t>
            </a:r>
          </a:p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7</a:t>
            </a:r>
          </a:p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8</a:t>
            </a:r>
          </a:p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9</a:t>
            </a:r>
          </a:p>
          <a:p xmlns:a="http://schemas.openxmlformats.org/drawingml/2006/main">
            <a:pPr>
              <a:defRPr sz="2325" b="0" i="0">
                <a:solidFill>
                  <a:srgbClr val="EAF8F0"/>
                </a:solidFill>
              </a:defRPr>
            </a:pPr>
            <a:r>
              <a:rPr sz="2325" b="0" i="0">
                <a:solidFill>
                  <a:srgbClr val="EAF8F0"/>
                </a:solidFill>
              </a:rPr>
              <a:t>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33A79C-FC73-4010-9FF5-0AC3B17D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252A11-48D8-40B5-90DC-11F308F8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09 / 17</a:t>
            </a:r>
          </a:p>
        </p:txBody>
      </p:sp>
    </p:spTree>
    <p:extLst>
      <p:ext uri="{BB962C8B-B14F-4D97-AF65-F5344CB8AC3E}">
        <p14:creationId xmlns:p14="http://schemas.microsoft.com/office/powerpoint/2010/main" val="10142582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FC08715-B993-4949-9DB7-ABBB05AD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47251-DC94-4063-9E5E-1FFBD037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383522-11BD-412C-B0C7-DBD3A8FE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Demo Program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41C2C4-913A-4EFF-B6DB-E46FF971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The valid example uses declarations, arithmetic, if/else, while, and print.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FE0B6-C5F7-4CBC-B7FA-6C30DF88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3610"/>
            <a:ext cx="16725900" cy="691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2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7C7DC-A6F1-436A-AB64-ADF780F0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6192500" cy="495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int x = 5;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int y = 10;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int result;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bool isLarge;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result = x + y * 2;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isLarge = result &gt; 20;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if (isLarge) {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    print(result);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} else {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    print(0);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while (x &lt; 10) {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    x = x + 1;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    print(x);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17196-D806-4765-8D98-6D9FE682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0F864-1FF9-456F-8AE4-A33959AB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6962536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4B25225-D30F-4A66-A4D4-0ED37DA3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0AE2F-88C5-4565-B4A7-B9FE1FF4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274713-A191-4FA4-BDB3-EA5747DC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Output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E2D770-E995-4021-9520-4907B40E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The command-line version prints each compiler phase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F5E9C-6CC1-4A80-B912-861F2866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8172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2343B"/>
                </a:solidFill>
              </a:defRPr>
            </a:pPr>
            <a:r>
              <a:rPr sz="3150" b="1" i="0">
                <a:solidFill>
                  <a:srgbClr val="12343B"/>
                </a:solidFill>
              </a:rPr>
              <a:t>Demo command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9AB7E-9CAC-404D-8106-680356A7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22270"/>
            <a:ext cx="8162925" cy="788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3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E0CCA-F0A1-4FD0-9B20-0C1286AC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763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EAF8F0"/>
                </a:solidFill>
              </a:defRPr>
            </a:pPr>
            <a:r>
              <a:rPr sz="2175" b="0" i="0">
                <a:solidFill>
                  <a:srgbClr val="EAF8F0"/>
                </a:solidFill>
              </a:rPr>
              <a:t>python main.py examples/valid_program.minilang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AAFAB-D947-4E8D-828C-B3AB1CD0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70DBC-4CFB-4E39-A213-2AE60806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Source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AFF51-5367-49E3-8CA5-78C7F4BE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DEDFE-DB61-4AC1-AE75-FD3FA41E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Lexical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F3DEE-AC2D-4734-810D-634346F0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6FA0E-CC08-43B0-B84D-ED0315E7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Syntax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30DEC-53F3-4495-B5B3-AEEBD2F8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CF510-843C-43BF-A1FA-54311DAD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054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Semantic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FB350-0A9C-42E6-8BB3-A6A52D52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EA3DA-410C-4FD1-9C91-1D5B4B4F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0198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Program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FA44F-06B2-4B1B-83C5-DC28DDC2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1409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2B84B"/>
                </a:solidFill>
              </a:defRPr>
            </a:pPr>
            <a:r>
              <a:rPr sz="1350" b="1" i="0">
                <a:solidFill>
                  <a:srgbClr val="F2B84B"/>
                </a:solidFill>
              </a:rPr>
              <a:t>PROGRAM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D972A-3642-4AE0-877E-0ADFDF15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96540"/>
            <a:ext cx="816292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75FB5-D779-4EF3-8BC0-3FEEAC96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24200"/>
            <a:ext cx="7372350" cy="308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 b="0" i="0">
                <a:solidFill>
                  <a:srgbClr val="EAF8F0"/>
                </a:solidFill>
              </a:defRPr>
            </a:pPr>
            <a:r>
              <a:rPr sz="3375" b="0" i="0">
                <a:solidFill>
                  <a:srgbClr val="EAF8F0"/>
                </a:solidFill>
              </a:rPr>
              <a:t>25</a:t>
            </a:r>
          </a:p>
          <a:p xmlns:a="http://schemas.openxmlformats.org/drawingml/2006/main">
            <a:pPr>
              <a:defRPr sz="3375" b="0" i="0">
                <a:solidFill>
                  <a:srgbClr val="EAF8F0"/>
                </a:solidFill>
              </a:defRPr>
            </a:pPr>
            <a:r>
              <a:rPr sz="3375" b="0" i="0">
                <a:solidFill>
                  <a:srgbClr val="EAF8F0"/>
                </a:solidFill>
              </a:rPr>
              <a:t>6</a:t>
            </a:r>
          </a:p>
          <a:p xmlns:a="http://schemas.openxmlformats.org/drawingml/2006/main">
            <a:pPr>
              <a:defRPr sz="3375" b="0" i="0">
                <a:solidFill>
                  <a:srgbClr val="EAF8F0"/>
                </a:solidFill>
              </a:defRPr>
            </a:pPr>
            <a:r>
              <a:rPr sz="3375" b="0" i="0">
                <a:solidFill>
                  <a:srgbClr val="EAF8F0"/>
                </a:solidFill>
              </a:rPr>
              <a:t>7</a:t>
            </a:r>
          </a:p>
          <a:p xmlns:a="http://schemas.openxmlformats.org/drawingml/2006/main">
            <a:pPr>
              <a:defRPr sz="3375" b="0" i="0">
                <a:solidFill>
                  <a:srgbClr val="EAF8F0"/>
                </a:solidFill>
              </a:defRPr>
            </a:pPr>
            <a:r>
              <a:rPr sz="3375" b="0" i="0">
                <a:solidFill>
                  <a:srgbClr val="EAF8F0"/>
                </a:solidFill>
              </a:rPr>
              <a:t>8</a:t>
            </a:r>
          </a:p>
          <a:p xmlns:a="http://schemas.openxmlformats.org/drawingml/2006/main">
            <a:pPr>
              <a:defRPr sz="3375" b="0" i="0">
                <a:solidFill>
                  <a:srgbClr val="EAF8F0"/>
                </a:solidFill>
              </a:defRPr>
            </a:pPr>
            <a:r>
              <a:rPr sz="3375" b="0" i="0">
                <a:solidFill>
                  <a:srgbClr val="EAF8F0"/>
                </a:solidFill>
              </a:rPr>
              <a:t>9</a:t>
            </a:r>
          </a:p>
          <a:p xmlns:a="http://schemas.openxmlformats.org/drawingml/2006/main">
            <a:pPr>
              <a:defRPr sz="3375" b="0" i="0">
                <a:solidFill>
                  <a:srgbClr val="EAF8F0"/>
                </a:solidFill>
              </a:defRPr>
            </a:pPr>
            <a:r>
              <a:rPr sz="3375" b="0" i="0">
                <a:solidFill>
                  <a:srgbClr val="EAF8F0"/>
                </a:solidFill>
              </a:rPr>
              <a:t>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478800-572E-45F5-BD37-AE04A9EB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705600"/>
            <a:ext cx="8172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31535B"/>
                </a:solidFill>
              </a:defRPr>
            </a:pPr>
            <a:r>
              <a:rPr sz="2100" b="0" i="0">
                <a:solidFill>
                  <a:srgbClr val="31535B"/>
                </a:solidFill>
              </a:rPr>
              <a:t>This output appears only after lexical, syntax, and semantic analysis succeed.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9035B-CFAF-418B-B4FF-219ADD13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5B7C6-8D48-4C3B-8CA0-11ABF577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2455457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B103A8B-BCA0-44D0-B413-0AB4CE49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C5C59-7384-475A-888C-3CBD4517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03A3E2-A951-4D71-A0BA-6C17DB24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Error Handling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F9C14D-EAB1-49B1-A76E-DAE07780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Different mistakes are caught by different phases.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AD524-CF79-4E7B-8CD8-358ABFEA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085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65050"/>
                </a:solidFill>
              </a:defRPr>
            </a:pPr>
            <a:r>
              <a:rPr sz="1350" b="1" i="0">
                <a:solidFill>
                  <a:srgbClr val="D65050"/>
                </a:solidFill>
              </a:rPr>
              <a:t>LEXICAL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C2FF1-49B3-4CC6-AEAD-DB6702A9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6540"/>
            <a:ext cx="5422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1A1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6B89F-C8A8-4FD1-9EE9-BA841EC6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48958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EAF8F0"/>
                </a:solidFill>
              </a:defRPr>
            </a:pPr>
            <a:r>
              <a:rPr sz="1875" b="0" i="0">
                <a:solidFill>
                  <a:srgbClr val="EAF8F0"/>
                </a:solidFill>
              </a:rPr>
              <a:t>@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 i="0">
                <a:solidFill>
                  <a:srgbClr val="EAF8F0"/>
                </a:solidFill>
              </a:defRPr>
            </a:pPr>
            <a:r>
              <a:rPr sz="1875" b="0" i="0">
                <a:solidFill>
                  <a:srgbClr val="EAF8F0"/>
                </a:solidFill>
              </a:rPr>
              <a:t>Lexical Error:</a:t>
            </a:r>
          </a:p>
          <a:p xmlns:a="http://schemas.openxmlformats.org/drawingml/2006/main">
            <a:pPr>
              <a:defRPr sz="1875" b="0" i="0">
                <a:solidFill>
                  <a:srgbClr val="EAF8F0"/>
                </a:solidFill>
              </a:defRPr>
            </a:pPr>
            <a:r>
              <a:rPr sz="1875" b="0" i="0">
                <a:solidFill>
                  <a:srgbClr val="EAF8F0"/>
                </a:solidFill>
              </a:rPr>
              <a:t>Invalid character '@'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E066B-47AA-4C62-8887-893E511A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542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1535B"/>
                </a:solidFill>
              </a:defRPr>
            </a:pPr>
            <a:r>
              <a:rPr sz="1800" b="0" i="0">
                <a:solidFill>
                  <a:srgbClr val="31535B"/>
                </a:solidFill>
              </a:rPr>
              <a:t>Invalid characters are rejected before parsing starts.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3E2B8-8741-4DBF-A389-1C231A58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1066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C7DAD"/>
                </a:solidFill>
              </a:defRPr>
            </a:pPr>
            <a:r>
              <a:rPr sz="1350" b="1" i="0">
                <a:solidFill>
                  <a:srgbClr val="3C7DAD"/>
                </a:solidFill>
              </a:rPr>
              <a:t>SYNTAX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509FC-F764-4EEB-B92C-6E924655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2796540"/>
            <a:ext cx="54229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6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46ACB-3276-4472-B877-5C72FCA3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48958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EAF8F0"/>
                </a:solidFill>
              </a:defRPr>
            </a:pPr>
            <a:r>
              <a:rPr sz="1875" b="0" i="0">
                <a:solidFill>
                  <a:srgbClr val="EAF8F0"/>
                </a:solidFill>
              </a:rPr>
              <a:t>int x = 5</a:t>
            </a:r>
          </a:p>
          <a:p xmlns:a="http://schemas.openxmlformats.org/drawingml/2006/main">
            <a:pPr>
              <a:defRPr sz="1875" b="0" i="0">
                <a:solidFill>
                  <a:srgbClr val="EAF8F0"/>
                </a:solidFill>
              </a:defRPr>
            </a:pPr>
            <a:r>
              <a:rPr sz="1875" b="0" i="0">
                <a:solidFill>
                  <a:srgbClr val="EAF8F0"/>
                </a:solidFill>
              </a:rPr>
              <a:t>print(x);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 i="0">
                <a:solidFill>
                  <a:srgbClr val="EAF8F0"/>
                </a:solidFill>
              </a:defRPr>
            </a:pPr>
            <a:r>
              <a:rPr sz="1875" b="0" i="0">
                <a:solidFill>
                  <a:srgbClr val="EAF8F0"/>
                </a:solidFill>
              </a:rPr>
              <a:t>Syntax Error:</a:t>
            </a:r>
          </a:p>
          <a:p xmlns:a="http://schemas.openxmlformats.org/drawingml/2006/main">
            <a:pPr>
              <a:defRPr sz="1875" b="0" i="0">
                <a:solidFill>
                  <a:srgbClr val="EAF8F0"/>
                </a:solidFill>
              </a:defRPr>
            </a:pPr>
            <a:r>
              <a:rPr sz="1875" b="0" i="0">
                <a:solidFill>
                  <a:srgbClr val="EAF8F0"/>
                </a:solidFill>
              </a:rPr>
              <a:t>Expected ';'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DF35D-5447-477A-96FB-4382D24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542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1535B"/>
                </a:solidFill>
              </a:defRPr>
            </a:pPr>
            <a:r>
              <a:rPr sz="1800" b="0" i="0">
                <a:solidFill>
                  <a:srgbClr val="31535B"/>
                </a:solidFill>
              </a:rPr>
              <a:t>Bad grammar is caught while building the AST.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0A6C0-126E-466D-8A90-F8600B79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209800"/>
            <a:ext cx="127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4B8A"/>
                </a:solidFill>
              </a:defRPr>
            </a:pPr>
            <a:r>
              <a:rPr sz="1350" b="1" i="0">
                <a:solidFill>
                  <a:srgbClr val="5B4B8A"/>
                </a:solidFill>
              </a:rPr>
              <a:t>SEMANTIC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80CED-52C5-4FF6-BAD3-8CE7C08D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2590800"/>
            <a:ext cx="54229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D3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A085B-6CA7-41EA-8941-DA5A3DCE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819400"/>
            <a:ext cx="48958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int age = 20;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age =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Semantic Error: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Cannot assign bool</a:t>
            </a:r>
          </a:p>
          <a:p xmlns:a="http://schemas.openxmlformats.org/drawingml/2006/main">
            <a:pPr>
              <a:defRPr sz="1800" b="0" i="0">
                <a:solidFill>
                  <a:srgbClr val="EAF8F0"/>
                </a:solidFill>
              </a:defRPr>
            </a:pPr>
            <a:r>
              <a:rPr sz="1800" b="0" i="0">
                <a:solidFill>
                  <a:srgbClr val="EAF8F0"/>
                </a:solidFill>
              </a:rPr>
              <a:t>to int variable 'age'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88198-541C-4284-B862-4ABF6F72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857750"/>
            <a:ext cx="542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1535B"/>
                </a:solidFill>
              </a:defRPr>
            </a:pPr>
            <a:r>
              <a:rPr sz="1800" b="0" i="0">
                <a:solidFill>
                  <a:srgbClr val="31535B"/>
                </a:solidFill>
              </a:rPr>
              <a:t>Incorrect meaning is caught after syntax is valid.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8062E-B1A3-45EF-BC45-9D4FBC07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DF708-7071-43C6-AB58-3EC353CB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053020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07F1477-D2FC-4B46-AA35-B79753B7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EC01D-A7E9-4DDA-8D10-BD81B388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4E282B-5648-4168-B6EA-6C29F235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Challenges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92D87A5-8B67-4817-A72D-A434426E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The main difficulty was connecting simple rules into a working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BF865-EF48-42CD-93B4-5484E593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2B84B"/>
                </a:solidFill>
              </a:defRPr>
            </a:pPr>
            <a:r>
              <a:rPr sz="1800" b="1" i="0">
                <a:solidFill>
                  <a:srgbClr val="F2B84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7082D-A1CD-42DB-A33D-2958658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Parsing expressions while respecting operator precedence.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D508C-914A-47A2-A4F5-3669BF1E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2B84B"/>
                </a:solidFill>
              </a:defRPr>
            </a:pPr>
            <a:r>
              <a:rPr sz="1800" b="1" i="0">
                <a:solidFill>
                  <a:srgbClr val="F2B84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AFCCF-2B89-43F0-A6D9-1E5347AB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Designing AST classes that are easy to read and print.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3187E-29CC-46E4-B32F-62FD432F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2B84B"/>
                </a:solidFill>
              </a:defRPr>
            </a:pPr>
            <a:r>
              <a:rPr sz="1800" b="1" i="0">
                <a:solidFill>
                  <a:srgbClr val="F2B84B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FDDE6-2D69-428E-8BC0-F6C92640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575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Keeping semantic checks separate from syntax checks.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C76D3-8463-4E02-AA46-5C05CD11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2B84B"/>
                </a:solidFill>
              </a:defRPr>
            </a:pPr>
            <a:r>
              <a:rPr sz="1800" b="1" i="0">
                <a:solidFill>
                  <a:srgbClr val="F2B84B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655D9-860C-4331-B928-FB2699AF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Making error messages clear for a class demo.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95851-FCE5-4AD1-AC31-CE4368F9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2B84B"/>
                </a:solidFill>
              </a:defRPr>
            </a:pPr>
            <a:r>
              <a:rPr sz="1800" b="1" i="0">
                <a:solidFill>
                  <a:srgbClr val="F2B84B"/>
                </a:solidFill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A9D95-8EB2-48AC-AB71-3AA2126B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Reusing the same compiler classes in both CLI and GUI modes.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5F14E-8880-4060-8725-D83331DA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43200"/>
            <a:ext cx="1543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C7DAD"/>
                </a:solidFill>
              </a:defRPr>
            </a:pPr>
            <a:r>
              <a:rPr sz="1350" b="1" i="0">
                <a:solidFill>
                  <a:srgbClr val="3C7DAD"/>
                </a:solidFill>
              </a:rPr>
              <a:t>PRECEDENCE LADDER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AF3BE-F256-4641-9C11-49EE9191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331845"/>
            <a:ext cx="8162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DAD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67E0D-2B1F-4A2E-B686-E97B64DD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4330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equality: == !=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3CFC5-DA91-47E2-9818-82448F41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417695"/>
            <a:ext cx="8162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627E2-92D8-475F-9903-2B216D50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2915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comparison: &lt; &gt; &lt;= &gt;=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5D9A8-7DCC-4F5D-8485-4C445A33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503545"/>
            <a:ext cx="8162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DBAB5-4923-4CA5-8C61-13536EF6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71500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43B"/>
                </a:solidFill>
              </a:defRPr>
            </a:pPr>
            <a:r>
              <a:rPr sz="1875" b="1" i="0">
                <a:solidFill>
                  <a:srgbClr val="12343B"/>
                </a:solidFill>
              </a:rPr>
              <a:t>term: + 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F3B37-37C0-4555-9908-188272F2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6589395"/>
            <a:ext cx="8162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05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5B263-375D-4B6B-87E0-76C14782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80085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factor: * 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0D5E5-D909-4EBD-9FD2-6A6F266B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7675245"/>
            <a:ext cx="8162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E4421-1E30-4970-B48B-114ACC94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788670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primary: literals, identifiers, (...)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3BD51A-025E-4FF5-9B88-66856777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BF7F28-79A1-42A1-83CB-FEA27089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3955903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9CEB354-25F4-421F-A8D3-F1A07B37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FEB48-9CBE-482F-98A9-65E9CBDB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DAEF5B-3D0E-4692-BFA4-9ED06AD4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Conclusion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8039675-88AF-4B1D-8A7E-F9D51E7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MiniLang proves the complete compiler/interpreter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DE11C-FDF5-4ED4-B4FA-28E97A05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6725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2343B"/>
                </a:solidFill>
              </a:defRPr>
            </a:pPr>
            <a:r>
              <a:rPr sz="3600" b="1" i="0">
                <a:solidFill>
                  <a:srgbClr val="12343B"/>
                </a:solidFill>
              </a:rPr>
              <a:t>What we built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2ABEE-8559-4890-8A2B-7E79E24C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405288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B62F6-7908-4E6A-9547-910B432F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3676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Tokens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1A9BC-56B1-422A-92F0-61CFEBEC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388" y="5124450"/>
            <a:ext cx="405288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DA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EB6AC-1922-40CC-9B5B-ACC0A58D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334000"/>
            <a:ext cx="3676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D2567-8D53-4BF3-AA4B-4AF1FF5F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124450"/>
            <a:ext cx="405288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8230B-042A-4A65-8B7F-F86D0824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3676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Type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ED467-438F-4270-840E-E70238D8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3" y="5124450"/>
            <a:ext cx="405288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05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4B6D1-9BE8-4ABE-A83D-28F3D462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334000"/>
            <a:ext cx="3676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5E1DD-3543-45FA-A73B-A464AE8E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67259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31535B"/>
                </a:solidFill>
              </a:defRPr>
            </a:pPr>
            <a:r>
              <a:rPr sz="2400" b="0" i="0">
                <a:solidFill>
                  <a:srgbClr val="31535B"/>
                </a:solidFill>
              </a:rPr>
              <a:t>The project connects compiler theory to a working Python program that can be demonstrated from the command line and through a GUI.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C738D-3AA2-4A66-82AB-3536F63F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5BD19-BA22-4328-B57A-0557A1C8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18650371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D217C7E-5A80-45AD-B371-069EB0CD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09483-4294-4615-9B4D-D2D03982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93F602-5186-4C6B-8CB7-6E183937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GUI Application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DBA04A9-E503-45D0-A0BC-21AED997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The Tkinter GUI visualizes the compiler phases like a small user app.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C2AE3-CF81-4873-82BD-A8FFBAD8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8172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12343B"/>
                </a:solidFill>
              </a:defRPr>
            </a:pPr>
            <a:r>
              <a:rPr sz="3450" b="1" i="0">
                <a:solidFill>
                  <a:srgbClr val="12343B"/>
                </a:solidFill>
              </a:rPr>
              <a:t>The GUI does not replace main.py.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D1F40-0576-4582-95B1-0377C616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8172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31535B"/>
                </a:solidFill>
              </a:defRPr>
            </a:pPr>
            <a:r>
              <a:rPr sz="2325" b="0" i="0">
                <a:solidFill>
                  <a:srgbClr val="31535B"/>
                </a:solidFill>
              </a:rPr>
              <a:t>It reuses the same Lexer, Parser, SemanticAnalyzer, and Interpreter classes.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BA3A8-5BFF-4171-BBBD-9A17C491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2190"/>
            <a:ext cx="8162925" cy="845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3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C746A-8C27-489B-86BD-08A655FB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763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EAF8F0"/>
                </a:solidFill>
              </a:defRPr>
            </a:pPr>
            <a:r>
              <a:rPr sz="2550" b="0" i="0">
                <a:solidFill>
                  <a:srgbClr val="EAF8F0"/>
                </a:solidFill>
              </a:rPr>
              <a:t>python gui.py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40791-117A-4443-B8FA-0D5B2527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13610"/>
            <a:ext cx="8162925" cy="691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F7027-157B-49B9-8E0F-69F20386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38400"/>
            <a:ext cx="7715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2343B"/>
                </a:solidFill>
              </a:defRPr>
            </a:pPr>
            <a:r>
              <a:rPr sz="2025" b="1" i="0">
                <a:solidFill>
                  <a:srgbClr val="12343B"/>
                </a:solidFill>
              </a:rPr>
              <a:t>MiniLang Compiler Visualizer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BAACC-DC9A-4A7B-B0A3-6546F25F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3220"/>
            <a:ext cx="7705725" cy="937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3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299B4-C1C2-40C1-9467-9B43DC81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67050"/>
            <a:ext cx="733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2343B"/>
                </a:solidFill>
              </a:defRPr>
            </a:pPr>
            <a:r>
              <a:rPr sz="1950" b="0" i="0">
                <a:solidFill>
                  <a:srgbClr val="12343B"/>
                </a:solidFill>
              </a:rPr>
              <a:t>int x = 5;</a:t>
            </a:r>
          </a:p>
          <a:p xmlns:a="http://schemas.openxmlformats.org/drawingml/2006/main">
            <a:pPr>
              <a:defRPr sz="1950" b="0" i="0">
                <a:solidFill>
                  <a:srgbClr val="12343B"/>
                </a:solidFill>
              </a:defRPr>
            </a:pPr>
            <a:r>
              <a:rPr sz="1950" b="0" i="0">
                <a:solidFill>
                  <a:srgbClr val="12343B"/>
                </a:solidFill>
              </a:rPr>
              <a:t>print(x);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9FDF4-D93A-4E3E-87A6-590DB45B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92880"/>
            <a:ext cx="184070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01FFF-95CA-4C26-B31C-4B47411E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10050"/>
            <a:ext cx="146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Run Compiler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DE2A9-343F-44AB-888D-09F78AE2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7631" y="3992880"/>
            <a:ext cx="184070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DAD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DF728-54CD-43F6-B05C-2763417A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210050"/>
            <a:ext cx="146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Clear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0637F-0E76-4E35-BB15-5D62249F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992880"/>
            <a:ext cx="184070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10139-8556-4F2F-A2ED-44FA6C3F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210050"/>
            <a:ext cx="146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43B"/>
                </a:solidFill>
              </a:defRPr>
            </a:pPr>
            <a:r>
              <a:rPr sz="1875" b="1" i="0">
                <a:solidFill>
                  <a:srgbClr val="12343B"/>
                </a:solidFill>
              </a:rPr>
              <a:t>Load Example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44516-89F9-42A6-9EFA-AAD5FE97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7644" y="3992880"/>
            <a:ext cx="184070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74E71-EF34-4355-8B3C-32550F3D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4210050"/>
            <a:ext cx="146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Save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14402-6DE4-4431-A93E-FB4A2DB7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059680"/>
            <a:ext cx="146494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ADB0B-6CA4-4B8D-A540-702DCB41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276850"/>
            <a:ext cx="1085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43B"/>
                </a:solidFill>
              </a:defRPr>
            </a:pPr>
            <a:r>
              <a:rPr sz="1875" b="1" i="0">
                <a:solidFill>
                  <a:srgbClr val="12343B"/>
                </a:solidFill>
              </a:rPr>
              <a:t>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E0169-2A04-4BD5-973B-D7729F81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820" y="5059680"/>
            <a:ext cx="146494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723F5-EC27-44B3-922A-F730EFC6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276850"/>
            <a:ext cx="1085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43B"/>
                </a:solidFill>
              </a:defRPr>
            </a:pPr>
            <a:r>
              <a:rPr sz="1875" b="1" i="0">
                <a:solidFill>
                  <a:srgbClr val="12343B"/>
                </a:solidFill>
              </a:rPr>
              <a:t>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43692-4297-4B14-9B7A-E4F02CAD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3015" y="5059680"/>
            <a:ext cx="146494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FEC75-B5F6-4936-8A82-CB0E645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276850"/>
            <a:ext cx="1085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43B"/>
                </a:solidFill>
              </a:defRPr>
            </a:pPr>
            <a:r>
              <a:rPr sz="1875" b="1" i="0">
                <a:solidFill>
                  <a:srgbClr val="12343B"/>
                </a:solidFill>
              </a:rPr>
              <a:t>Semantic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4F34A1-A18F-4D6B-A91B-42C05A7F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5059680"/>
            <a:ext cx="146494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32A7FC-7906-4650-B777-9F56DB45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5276850"/>
            <a:ext cx="1085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43B"/>
                </a:solidFill>
              </a:defRPr>
            </a:pPr>
            <a:r>
              <a:rPr sz="1875" b="1" i="0">
                <a:solidFill>
                  <a:srgbClr val="12343B"/>
                </a:solidFill>
              </a:rPr>
              <a:t>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63C1C3-0189-4035-B2C0-5C9036E4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3405" y="5059680"/>
            <a:ext cx="146494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A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B2A369-8204-4712-89A2-3B9B3AD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276850"/>
            <a:ext cx="1085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43B"/>
                </a:solidFill>
              </a:defRPr>
            </a:pPr>
            <a:r>
              <a:rPr sz="1875" b="1" i="0">
                <a:solidFill>
                  <a:srgbClr val="12343B"/>
                </a:solidFill>
              </a:rPr>
              <a:t>Errors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259234-023D-492D-9E04-E83DA41E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4BDBB0-8F16-4381-84E0-5D0E3EF6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49468636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B82A6C3-B019-4578-958D-B6DA9D20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C7741-87DC-4B30-9EF1-4E471033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420CD4-3E54-40D1-9A2E-2F378B82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GUI Features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330D3C-D082-444E-9BA2-43126982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The GUI makes the phases easy to show during a live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56888-8908-4B57-AEB6-1D551CA0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350AA-FB42-4263-8E5D-5209CFF5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Source code editor with default MiniLang program.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E137B-565A-43D1-AA73-6019DB30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1F8F1-695F-4A7F-845B-1E21F6F1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Run Compiler button to start all phases.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4E461-D24E-47E9-90FF-B75F0CEA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62E41-2C8A-4754-9FA5-4823D30D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575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Clear, Load Example, and Save Code buttons.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3D6D0-E2CF-4231-9CCA-0761019A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DF71E-E464-443B-BF57-2A076558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74866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Separate tabs for tokens, AST, semantic analysis, output, and errors.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23879-A420-4A7D-BABD-36E04A82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</a:defRPr>
            </a:pPr>
            <a:r>
              <a:rPr sz="1800" b="1" i="0">
                <a:solidFill>
                  <a:srgbClr val="2E8B57"/>
                </a:solidFill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F00A5-78F0-4FF6-A4C4-E040345D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291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Errors stop execution and appear in the Errors tab.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CDB36-31F3-408A-BCB7-AAF74994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19450"/>
            <a:ext cx="723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C7DAD"/>
                </a:solidFill>
              </a:defRPr>
            </a:pPr>
            <a:r>
              <a:rPr sz="1350" b="1" i="0">
                <a:solidFill>
                  <a:srgbClr val="3C7DAD"/>
                </a:solidFill>
              </a:rPr>
              <a:t>GUI 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6B9DE-6A15-4E7B-8391-D8287E17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829050"/>
            <a:ext cx="8162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3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97C8D-D02D-4F71-9AFA-52B3583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3860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Source Code Editor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CD82E-6FF3-469E-91F1-49B76E43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33950"/>
            <a:ext cx="817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1535B"/>
                </a:solidFill>
              </a:defRPr>
            </a:pPr>
            <a:r>
              <a:rPr sz="2550" b="1" i="0">
                <a:solidFill>
                  <a:srgbClr val="31535B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9B6D8-D1D5-4C4E-BFEE-2E8FB6F4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513070"/>
            <a:ext cx="81629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2B178-B507-4B75-B679-D5C30264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71500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Run Compiler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006F1-4ED1-49DF-BAA1-FB7D38F3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610350"/>
            <a:ext cx="817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1535B"/>
                </a:solidFill>
              </a:defRPr>
            </a:pPr>
            <a:r>
              <a:rPr sz="2550" b="1" i="0">
                <a:solidFill>
                  <a:srgbClr val="31535B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8CC25-4F71-497E-A538-C467F58F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7197090"/>
            <a:ext cx="26447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DAD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40F5A-C1FE-4E0C-8888-F346D3EC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7410450"/>
            <a:ext cx="226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Tokens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8EABB-385A-43C7-B26A-C86E9ACF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7197090"/>
            <a:ext cx="26447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3250F-AC1C-4649-94A9-2D8FDB80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10450"/>
            <a:ext cx="226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AST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FAEDEF-8513-4480-B9AF-30BE538D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175" y="7197090"/>
            <a:ext cx="26447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05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27732B-096E-4AC1-B258-8EC7B009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7410450"/>
            <a:ext cx="226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2FD44C-3C4E-4D9A-9561-B6072C35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2E008C-77CD-484B-A9E5-644B7F9E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206020975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97527E5-028F-4D4B-9962-FA600AB3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C660C-E0D2-4E29-BD14-C39DDDA8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MINILANG COMPILER / INTERPRETER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2F4C86-AC90-4020-8FCB-AC3A6297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2343B"/>
                </a:solidFill>
              </a:defRPr>
            </a:pPr>
            <a:r>
              <a:rPr sz="4350" b="1" i="0">
                <a:solidFill>
                  <a:srgbClr val="12343B"/>
                </a:solidFill>
              </a:rPr>
              <a:t>GUI Demo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E4C360-5746-4DBA-9BD1-D8B0883B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6725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1535B"/>
                </a:solidFill>
              </a:defRPr>
            </a:pPr>
            <a:r>
              <a:rPr sz="1950" b="0" i="0">
                <a:solidFill>
                  <a:srgbClr val="31535B"/>
                </a:solidFill>
              </a:rPr>
              <a:t>Finish by showing both command-line and GUI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55B53-6E2F-42CE-8A83-EE94952E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95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</a:defRPr>
            </a:pPr>
            <a:r>
              <a:rPr sz="1350" b="1" i="0">
                <a:solidFill>
                  <a:srgbClr val="2E8B57"/>
                </a:solidFill>
              </a:rPr>
              <a:t>COMMAND-LINE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78F4C-E441-4E6F-B229-1674973F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1629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3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DED67-0B7E-4DAB-814C-9F308418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76390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EAF8F0"/>
                </a:solidFill>
              </a:defRPr>
            </a:pPr>
            <a:r>
              <a:rPr sz="1875" b="0" i="0">
                <a:solidFill>
                  <a:srgbClr val="EAF8F0"/>
                </a:solidFill>
              </a:rPr>
              <a:t>python main.py examples/valid_program.minilang</a:t>
            </a:r>
          </a:p>
          <a:p xmlns:a="http://schemas.openxmlformats.org/drawingml/2006/main">
            <a:pPr>
              <a:defRPr sz="1875" b="0" i="0">
                <a:solidFill>
                  <a:srgbClr val="EAF8F0"/>
                </a:solidFill>
              </a:defRPr>
            </a:pPr>
            <a:r>
              <a:rPr sz="1875" b="0" i="0">
                <a:solidFill>
                  <a:srgbClr val="EAF8F0"/>
                </a:solidFill>
              </a:rPr>
              <a:t>python main.py examples/lexical_error.minilang</a:t>
            </a:r>
          </a:p>
          <a:p xmlns:a="http://schemas.openxmlformats.org/drawingml/2006/main">
            <a:pPr>
              <a:defRPr sz="1875" b="0" i="0">
                <a:solidFill>
                  <a:srgbClr val="EAF8F0"/>
                </a:solidFill>
              </a:defRPr>
            </a:pPr>
            <a:r>
              <a:rPr sz="1875" b="0" i="0">
                <a:solidFill>
                  <a:srgbClr val="EAF8F0"/>
                </a:solidFill>
              </a:rPr>
              <a:t>python main.py examples/syntax_error.minilang</a:t>
            </a:r>
          </a:p>
          <a:p xmlns:a="http://schemas.openxmlformats.org/drawingml/2006/main">
            <a:pPr>
              <a:defRPr sz="1875" b="0" i="0">
                <a:solidFill>
                  <a:srgbClr val="EAF8F0"/>
                </a:solidFill>
              </a:defRPr>
            </a:pPr>
            <a:r>
              <a:rPr sz="1875" b="0" i="0">
                <a:solidFill>
                  <a:srgbClr val="EAF8F0"/>
                </a:solidFill>
              </a:rPr>
              <a:t>python main.py examples/semantic_error.minilang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FB007-A992-4AC8-AD14-484E73FA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817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31535B"/>
                </a:solidFill>
              </a:defRPr>
            </a:pPr>
            <a:r>
              <a:rPr sz="2025" b="0" i="0">
                <a:solidFill>
                  <a:srgbClr val="31535B"/>
                </a:solidFill>
              </a:rPr>
              <a:t>Use the terminal to prove each compiler phase is printed clearly.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14709-718F-47DE-90C5-21AF7302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762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C7DAD"/>
                </a:solidFill>
              </a:defRPr>
            </a:pPr>
            <a:r>
              <a:rPr sz="1350" b="1" i="0">
                <a:solidFill>
                  <a:srgbClr val="3C7DAD"/>
                </a:solidFill>
              </a:rPr>
              <a:t>GUI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671A1-5109-4810-9159-81F148E9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C7DAD"/>
                </a:solidFill>
              </a:defRPr>
            </a:pPr>
            <a:r>
              <a:rPr sz="1800" b="1" i="0">
                <a:solidFill>
                  <a:srgbClr val="3C7DAD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30171-96F3-431F-88FF-52134FF2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5750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Run python gui.py.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B1A54-D319-4058-8A2D-CA66E512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C7DAD"/>
                </a:solidFill>
              </a:defRPr>
            </a:pPr>
            <a:r>
              <a:rPr sz="1800" b="1" i="0">
                <a:solidFill>
                  <a:srgbClr val="3C7DA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0213D-CDAC-4AC7-A9C1-F2CFB7A1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718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Load or type the valid MiniLang program.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D5C6A-7CAD-41C7-8622-63A77E8F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052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C7DAD"/>
                </a:solidFill>
              </a:defRPr>
            </a:pPr>
            <a:r>
              <a:rPr sz="1800" b="1" i="0">
                <a:solidFill>
                  <a:srgbClr val="3C7DA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141DE-2A11-46F8-882B-5E595B66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052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Click Run Compiler.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71FAC-F919-4BD7-88CB-9E58BD5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1960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C7DAD"/>
                </a:solidFill>
              </a:defRPr>
            </a:pPr>
            <a:r>
              <a:rPr sz="1800" b="1" i="0">
                <a:solidFill>
                  <a:srgbClr val="3C7DAD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94524-A9FF-4A58-83F1-03CDC6C9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419600"/>
            <a:ext cx="74866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Show Tokens, AST, Semantic Analysis, Program Output, and Errors tabs.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83F39-AD21-43ED-A61B-9B7DFD18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768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C7DAD"/>
                </a:solidFill>
              </a:defRPr>
            </a:pPr>
            <a:r>
              <a:rPr sz="1800" b="1" i="0">
                <a:solidFill>
                  <a:srgbClr val="3C7DAD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86D44-8CD1-4971-9E8B-C106C7ED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276850"/>
            <a:ext cx="748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43B"/>
                </a:solidFill>
              </a:defRPr>
            </a:pPr>
            <a:r>
              <a:rPr sz="2175" b="0" i="0">
                <a:solidFill>
                  <a:srgbClr val="12343B"/>
                </a:solidFill>
              </a:rPr>
              <a:t>Load an invalid example to show error handling.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CE0CB-851C-4705-81DB-BBD8F5A2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916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Compiler Design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AAE0D9-4128-4BB9-A02F-AA3F89E7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467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A78"/>
                </a:solidFill>
              </a:defRPr>
            </a:pPr>
            <a:r>
              <a:rPr sz="1125" b="0" i="0">
                <a:solidFill>
                  <a:srgbClr val="6A7A78"/>
                </a:solidFill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034607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2026-04-30T14:03:59.4770000Z</dcterms:created>
  <dcterms:modified xsi:type="dcterms:W3CDTF">2026-04-30T14:03:59.4770000Z</dcterms:modified>
</coreProperties>
</file>